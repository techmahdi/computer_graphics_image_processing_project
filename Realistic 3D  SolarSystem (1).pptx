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Nunito"/>
      <p:regular r:id="rId20"/>
      <p:bold r:id="rId21"/>
      <p:italic r:id="rId22"/>
      <p:boldItalic r:id="rId23"/>
    </p:embeddedFont>
    <p:embeddedFont>
      <p:font typeface="Roboto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8" roundtripDataSignature="AMtx7mgQWAQ4/bz9wQQvLREN4quooXox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79F6A5C-F670-4170-ACD1-04286134CCBB}">
  <a:tblStyle styleId="{E79F6A5C-F670-4170-ACD1-04286134CCB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AA606BB-E344-467E-A272-44AE81B650D5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regular.fntdata"/><Relationship Id="rId22" Type="http://schemas.openxmlformats.org/officeDocument/2006/relationships/font" Target="fonts/Nunito-italic.fntdata"/><Relationship Id="rId21" Type="http://schemas.openxmlformats.org/officeDocument/2006/relationships/font" Target="fonts/Nunito-bold.fntdata"/><Relationship Id="rId24" Type="http://schemas.openxmlformats.org/officeDocument/2006/relationships/font" Target="fonts/RobotoMono-regular.fntdata"/><Relationship Id="rId23" Type="http://schemas.openxmlformats.org/officeDocument/2006/relationships/font" Target="fonts/Nuni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8" Type="http://customschemas.google.com/relationships/presentationmetadata" Target="metadata"/><Relationship Id="rId27" Type="http://schemas.openxmlformats.org/officeDocument/2006/relationships/font" Target="fonts/RobotoMon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08bd8a8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08bd8a8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08bd8a8fb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b08bd8a8fb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6f2c1a92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6f2c1a92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08bd8a8fb_0_42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g3b08bd8a8fb_0_42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g3b08bd8a8fb_0_420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g3b08bd8a8fb_0_420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g3b08bd8a8fb_0_420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g3b08bd8a8fb_0_420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g3b08bd8a8fb_0_420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g3b08bd8a8fb_0_420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g3b08bd8a8fb_0_420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g3b08bd8a8fb_0_420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g3b08bd8a8fb_0_420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g3b08bd8a8fb_0_420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g3b08bd8a8fb_0_420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g3b08bd8a8fb_0_42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g3b08bd8a8fb_0_42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g3b08bd8a8fb_0_42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g3b08bd8a8fb_0_420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g3b08bd8a8fb_0_42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g3b08bd8a8fb_0_42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g3b08bd8a8fb_0_42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g3b08bd8a8fb_0_420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g3b08bd8a8fb_0_42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g3b08bd8a8fb_0_42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g3b08bd8a8fb_0_42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g3b08bd8a8fb_0_420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g3b08bd8a8fb_0_420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g3b08bd8a8fb_0_42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b08bd8a8fb_0_448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g3b08bd8a8fb_0_448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g3b08bd8a8fb_0_44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g3b08bd8a8fb_0_44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g3b08bd8a8fb_0_44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g3b08bd8a8fb_0_448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g3b08bd8a8fb_0_44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g3b08bd8a8fb_0_44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g3b08bd8a8fb_0_44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g3b08bd8a8fb_0_448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g3b08bd8a8fb_0_44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b08bd8a8fb_0_46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b08bd8a8fb_0_46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b08bd8a8fb_0_46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g3b08bd8a8fb_0_46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g3b08bd8a8fb_0_460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g3b08bd8a8fb_0_46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08bd8a8fb_0_46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b08bd8a8fb_0_46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b08bd8a8fb_0_46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3b08bd8a8fb_0_46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g3b08bd8a8fb_0_467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g3b08bd8a8fb_0_467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g3b08bd8a8fb_0_46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08bd8a8fb_0_47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b08bd8a8fb_0_47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b08bd8a8fb_0_47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b08bd8a8fb_0_47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g3b08bd8a8fb_0_47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08bd8a8fb_0_481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b08bd8a8fb_0_481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b08bd8a8fb_0_481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b08bd8a8fb_0_481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g3b08bd8a8fb_0_481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g3b08bd8a8fb_0_48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08bd8a8fb_0_48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b08bd8a8fb_0_48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g3b08bd8a8fb_0_48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g3b08bd8a8fb_0_48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g3b08bd8a8fb_0_48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g3b08bd8a8fb_0_48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g3b08bd8a8fb_0_48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g3b08bd8a8fb_0_48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g3b08bd8a8fb_0_48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g3b08bd8a8fb_0_48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g3b08bd8a8fb_0_48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g3b08bd8a8fb_0_48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g3b08bd8a8fb_0_48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g3b08bd8a8fb_0_48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g3b08bd8a8fb_0_48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g3b08bd8a8fb_0_48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g3b08bd8a8fb_0_48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08bd8a8fb_0_50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b08bd8a8fb_0_50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b08bd8a8fb_0_50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b08bd8a8fb_0_506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g3b08bd8a8fb_0_506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g3b08bd8a8fb_0_506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g3b08bd8a8fb_0_50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08bd8a8fb_0_51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b08bd8a8fb_0_51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b08bd8a8fb_0_51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b08bd8a8fb_0_514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g3b08bd8a8fb_0_51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08bd8a8fb_0_520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g3b08bd8a8fb_0_520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g3b08bd8a8fb_0_52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g3b08bd8a8fb_0_52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g3b08bd8a8fb_0_52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g3b08bd8a8fb_0_520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g3b08bd8a8fb_0_52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g3b08bd8a8fb_0_52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g3b08bd8a8fb_0_52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g3b08bd8a8fb_0_520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g3b08bd8a8fb_0_520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g3b08bd8a8fb_0_52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08bd8a8fb_0_53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b08bd8a8fb_0_4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g3b08bd8a8fb_0_416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b08bd8a8fb_0_41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"/>
          <p:cNvSpPr txBox="1"/>
          <p:nvPr>
            <p:ph type="ctrTitle"/>
          </p:nvPr>
        </p:nvSpPr>
        <p:spPr>
          <a:xfrm>
            <a:off x="824000" y="392625"/>
            <a:ext cx="7201500" cy="30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457200" lvl="0" marL="182880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3800"/>
              <a:buNone/>
            </a:pPr>
            <a:r>
              <a:rPr lang="en" sz="3300">
                <a:latin typeface="Times New Roman"/>
                <a:ea typeface="Times New Roman"/>
                <a:cs typeface="Times New Roman"/>
                <a:sym typeface="Times New Roman"/>
              </a:rPr>
              <a:t>Realistic 3D  SolarSystem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800"/>
              <a:buNone/>
            </a:pPr>
            <a:r>
              <a:t/>
            </a:r>
            <a:endParaRPr/>
          </a:p>
        </p:txBody>
      </p:sp>
      <p:sp>
        <p:nvSpPr>
          <p:cNvPr id="129" name="Google Shape;129;p1"/>
          <p:cNvSpPr txBox="1"/>
          <p:nvPr>
            <p:ph idx="1" type="subTitle"/>
          </p:nvPr>
        </p:nvSpPr>
        <p:spPr>
          <a:xfrm flipH="1">
            <a:off x="350975" y="3164500"/>
            <a:ext cx="8520600" cy="162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name :</a:t>
            </a:r>
            <a:r>
              <a:rPr lang="en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Computer Graphics &amp; Image Processing </a:t>
            </a:r>
            <a:endParaRPr b="1"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" sz="2300">
                <a:solidFill>
                  <a:schemeClr val="dk1"/>
                </a:solidFill>
              </a:rPr>
              <a:t>    Presented by :  </a:t>
            </a:r>
            <a:endParaRPr b="1" sz="2300">
              <a:solidFill>
                <a:schemeClr val="dk1"/>
              </a:solidFill>
            </a:endParaRPr>
          </a:p>
          <a:p>
            <a:pPr indent="0" lvl="0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" sz="2300">
                <a:solidFill>
                  <a:schemeClr val="dk1"/>
                </a:solidFill>
              </a:rPr>
              <a:t>        Md mahdi islam</a:t>
            </a:r>
            <a:endParaRPr b="1" sz="2300">
              <a:solidFill>
                <a:schemeClr val="dk1"/>
              </a:solidFill>
            </a:endParaRPr>
          </a:p>
          <a:p>
            <a:pPr indent="0" lvl="0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" sz="2300">
                <a:solidFill>
                  <a:schemeClr val="dk1"/>
                </a:solidFill>
              </a:rPr>
              <a:t>   	 221-115-104</a:t>
            </a:r>
            <a:endParaRPr b="1" sz="2300">
              <a:solidFill>
                <a:schemeClr val="dk1"/>
              </a:solidFill>
            </a:endParaRPr>
          </a:p>
        </p:txBody>
      </p:sp>
      <p:pic>
        <p:nvPicPr>
          <p:cNvPr id="130" name="Google Shape;130;p1" title="TF1-wg2a8j9E-eey3YXGQ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0"/>
            <a:ext cx="29055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solidFill>
            <a:srgbClr val="20124D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02020"/>
              <a:buNone/>
            </a:pPr>
            <a:r>
              <a:rPr lang="en" sz="1650">
                <a:solidFill>
                  <a:srgbClr val="BF9000"/>
                </a:solidFill>
                <a:latin typeface="Arial"/>
                <a:ea typeface="Arial"/>
                <a:cs typeface="Arial"/>
                <a:sym typeface="Arial"/>
              </a:rPr>
              <a:t>Title:</a:t>
            </a:r>
            <a:r>
              <a:rPr b="0" lang="en" sz="1650">
                <a:solidFill>
                  <a:srgbClr val="BF9000"/>
                </a:solidFill>
                <a:latin typeface="Arial"/>
                <a:ea typeface="Arial"/>
                <a:cs typeface="Arial"/>
                <a:sym typeface="Arial"/>
              </a:rPr>
              <a:t> Project Objective</a:t>
            </a:r>
            <a:endParaRPr b="0" sz="1650">
              <a:solidFill>
                <a:srgbClr val="BF9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SzPct val="144927"/>
              <a:buNone/>
            </a:pPr>
            <a:r>
              <a:t/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i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a realistic 3D solar system simulation.</a:t>
            </a:r>
            <a:br>
              <a:rPr b="1" i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i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Simulate planetary rotation, orbit, axial tilt, and rings.</a:t>
            </a:r>
            <a:br>
              <a:rPr b="1" i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i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Include dynamic asteroid belt with variety in size, shape, and color.</a:t>
            </a:r>
            <a:br>
              <a:rPr b="1" i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i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 interactive camera control and adjustable simulation speed.</a:t>
            </a:r>
            <a:endParaRPr b="1" i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 i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08bd8a8fb_0_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🌍 1️⃣ Introduction</a:t>
            </a:r>
            <a:endParaRPr b="1" sz="2000"/>
          </a:p>
        </p:txBody>
      </p:sp>
      <p:sp>
        <p:nvSpPr>
          <p:cNvPr id="142" name="Google Shape;142;g3b08bd8a8fb_0_0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project visualizes a realistic 3D solar system model using OpenGL.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planet orbits around the sun with its own speed, tilt, color, and moons.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Includes a colorful asteroid belt between Mars and Jupiter for realism.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can interact — pause/resume, zoom in/out, rotate camera, toggle labels and orbits.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Aim: Demonstrate core computer graphics transformations and animation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" title="aJN1embgGD-n960KTp7wW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3243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🧮 2️⃣ Methodology</a:t>
            </a:r>
            <a:endParaRPr b="1" i="1" sz="2000">
              <a:solidFill>
                <a:srgbClr val="000000"/>
              </a:solidFill>
              <a:highlight>
                <a:srgbClr val="BF9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"/>
          <p:cNvSpPr txBox="1"/>
          <p:nvPr>
            <p:ph idx="1" type="body"/>
          </p:nvPr>
        </p:nvSpPr>
        <p:spPr>
          <a:xfrm>
            <a:off x="1303800" y="1287850"/>
            <a:ext cx="7030500" cy="3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i="1" lang="en" sz="1100"/>
              <a:t>			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 Used: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13716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Modeling: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18288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Planets, moons, and asteroids created using 3D primitives (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glutSolidSphere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Lighting &amp; Materials: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18288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Realistic shading using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glMaterialfv()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glLightfv()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Transformations: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18288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glRotatef()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Rotation of planets and camera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18288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glTranslatef()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Orbit movement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18288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glScalef()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Asteroid shape variation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 i="1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4" title="LbfX66aM706fsGMsyBQLL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748424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4"/>
          <p:cNvSpPr txBox="1"/>
          <p:nvPr/>
        </p:nvSpPr>
        <p:spPr>
          <a:xfrm>
            <a:off x="2816475" y="111625"/>
            <a:ext cx="6242700" cy="49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         4.          Animation:</a:t>
            </a:r>
            <a:br>
              <a:rPr b="1" lang="en" sz="1100"/>
            </a:b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Continuous update with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glutTimerFunc()</a:t>
            </a:r>
            <a:r>
              <a:rPr lang="en" sz="1100"/>
              <a:t> (approx. 60 FPS).</a:t>
            </a:r>
            <a:br>
              <a:rPr lang="en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Planet rotation &amp; orbit speed updated per frame.</a:t>
            </a:r>
            <a:br>
              <a:rPr lang="en" sz="1100"/>
            </a:b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5.       User Interaction:</a:t>
            </a:r>
            <a:br>
              <a:rPr b="1" lang="en" sz="1100"/>
            </a:b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Keyboard → Pause, speed, toggle orbits/labels</a:t>
            </a:r>
            <a:br>
              <a:rPr lang="en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Mouse → Camera rotation &amp; zoom</a:t>
            </a:r>
            <a:br>
              <a:rPr lang="en" sz="1100"/>
            </a:b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5" title="JQh0cbdiFxV2gN7s4XTJ5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1525"/>
            <a:ext cx="182312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5"/>
          <p:cNvSpPr txBox="1"/>
          <p:nvPr/>
        </p:nvSpPr>
        <p:spPr>
          <a:xfrm>
            <a:off x="3180325" y="39275"/>
            <a:ext cx="5881800" cy="51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2000"/>
              <a:t>🧰 </a:t>
            </a:r>
            <a:r>
              <a:rPr b="1" lang="en" sz="2000"/>
              <a:t>3️⃣ Tools and Technologies</a:t>
            </a:r>
            <a:endParaRPr b="0" i="0" sz="2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2" name="Google Shape;162;p5"/>
          <p:cNvGraphicFramePr/>
          <p:nvPr/>
        </p:nvGraphicFramePr>
        <p:xfrm>
          <a:off x="1823125" y="128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{E79F6A5C-F670-4170-ACD1-04286134CCBB}</a:tableStyleId>
              </a:tblPr>
              <a:tblGrid>
                <a:gridCol w="3619500"/>
                <a:gridCol w="3619500"/>
              </a:tblGrid>
              <a:tr h="40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                           </a:t>
                      </a:r>
                      <a:r>
                        <a:rPr lang="en"/>
                        <a:t>Category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Tool / Library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Programming Language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C++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Graphics API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OpenGL (GLUT)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IDE / Compiler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Codeblocks,VsStudio,Dev-c++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OS Compatibility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Windows/Linux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63" name="Google Shape;163;p5"/>
          <p:cNvGraphicFramePr/>
          <p:nvPr/>
        </p:nvGraphicFramePr>
        <p:xfrm>
          <a:off x="1823150" y="3308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{E79F6A5C-F670-4170-ACD1-04286134CCBB}</a:tableStyleId>
              </a:tblPr>
              <a:tblGrid>
                <a:gridCol w="3619500"/>
                <a:gridCol w="3619500"/>
              </a:tblGrid>
              <a:tr h="540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Supporting Libraries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&lt;Gl/glut.h&gt;,&lt;cmath&gt;,&lt;vector&gt;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64" name="Google Shape;164;p5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{AAA606BB-E344-467E-A272-44AE81B650D5}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65" name="Google Shape;165;p5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{AAA606BB-E344-467E-A272-44AE81B650D5}</a:tableStyleId>
              </a:tblPr>
              <a:tblGrid>
                <a:gridCol w="3048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C++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66" name="Google Shape;166;p5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{AAA606BB-E344-467E-A272-44AE81B650D5}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67" name="Google Shape;167;p5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{AAA606BB-E344-467E-A272-44AE81B650D5}</a:tableStyleId>
              </a:tblPr>
              <a:tblGrid>
                <a:gridCol w="3048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C++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 txBox="1"/>
          <p:nvPr/>
        </p:nvSpPr>
        <p:spPr>
          <a:xfrm>
            <a:off x="2869800" y="19650"/>
            <a:ext cx="6274200" cy="51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⚙️  Algorithms &amp; Concepts Used</a:t>
            </a:r>
            <a:endParaRPr b="1" sz="1700"/>
          </a:p>
          <a:p>
            <a:pPr indent="0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</p:txBody>
      </p:sp>
      <p:pic>
        <p:nvPicPr>
          <p:cNvPr id="173" name="Google Shape;173;p6" title="j9hqRt-eIqYybsilNnn2X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-25" y="0"/>
            <a:ext cx="283484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4" name="Google Shape;174;p6"/>
          <p:cNvGraphicFramePr/>
          <p:nvPr/>
        </p:nvGraphicFramePr>
        <p:xfrm>
          <a:off x="944650" y="1230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{E79F6A5C-F670-4170-ACD1-04286134CCBB}</a:tableStyleId>
              </a:tblPr>
              <a:tblGrid>
                <a:gridCol w="3619500"/>
                <a:gridCol w="4318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                                    </a:t>
                      </a:r>
                      <a:r>
                        <a:rPr lang="en"/>
                        <a:t>Concept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Description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Transformation Algorithms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Rotation, Translation, Scaling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Lighting Model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Phong Illumination (Ambient, Diffuse, Specular)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Animation Loop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Timer-based update using </a:t>
                      </a:r>
                      <a:r>
                        <a:rPr lang="en" sz="1100">
                          <a:solidFill>
                            <a:srgbClr val="FF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glutTimerFunc()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Camera Control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gluLookAt()</a:t>
                      </a: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 for dynamic 3D viewing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Randomization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Used in asteroid position, color &amp; spin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Data Structures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Struct palent &amp; struct asteroids for modular design 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08bd8a8fb_0_413"/>
          <p:cNvSpPr txBox="1"/>
          <p:nvPr/>
        </p:nvSpPr>
        <p:spPr>
          <a:xfrm>
            <a:off x="471150" y="424050"/>
            <a:ext cx="7836900" cy="7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🪐 </a:t>
            </a:r>
            <a:r>
              <a:rPr b="1" lang="en" sz="2000"/>
              <a:t> Shapes and 3D Objects Used</a:t>
            </a:r>
            <a:endParaRPr b="1"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0" name="Google Shape;180;g3b08bd8a8fb_0_413"/>
          <p:cNvGraphicFramePr/>
          <p:nvPr/>
        </p:nvGraphicFramePr>
        <p:xfrm>
          <a:off x="9525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{E79F6A5C-F670-4170-ACD1-04286134CCBB}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Object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Shape Used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Function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Sun &amp; Planets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Sphere (</a:t>
                      </a: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glutSolidSphere</a:t>
                      </a:r>
                      <a:r>
                        <a:rPr lang="en" sz="1100"/>
                        <a:t>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Body modeling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Moons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Small spheres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Orbit around planets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Asteroids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Scaled spheres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Random irregular rocks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Orbits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Line loops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Visual orbit paths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Saturn’s Rings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Torus (</a:t>
                      </a: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glutWireTorus</a:t>
                      </a:r>
                      <a:r>
                        <a:rPr lang="en" sz="1100"/>
                        <a:t>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Realistic ring effect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Random points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Background aesthetic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6f2c1a92e_0_2"/>
          <p:cNvSpPr/>
          <p:nvPr/>
        </p:nvSpPr>
        <p:spPr>
          <a:xfrm>
            <a:off x="588950" y="628225"/>
            <a:ext cx="1303800" cy="251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a6f2c1a92e_0_2"/>
          <p:cNvSpPr txBox="1"/>
          <p:nvPr/>
        </p:nvSpPr>
        <p:spPr>
          <a:xfrm>
            <a:off x="2402925" y="502575"/>
            <a:ext cx="6525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🧩 </a:t>
            </a:r>
            <a:r>
              <a:rPr b="1" lang="en" sz="2000"/>
              <a:t> </a:t>
            </a:r>
            <a:r>
              <a:rPr b="1" lang="en" sz="2000"/>
              <a:t>R</a:t>
            </a:r>
            <a:r>
              <a:rPr b="1" lang="en" sz="2000"/>
              <a:t>e</a:t>
            </a:r>
            <a:r>
              <a:rPr b="1" lang="en" sz="2000"/>
              <a:t>lation to Computer Graphics Course Topics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7" name="Google Shape;187;g3a6f2c1a92e_0_2"/>
          <p:cNvGraphicFramePr/>
          <p:nvPr/>
        </p:nvGraphicFramePr>
        <p:xfrm>
          <a:off x="9525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{E79F6A5C-F670-4170-ACD1-04286134CCBB}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Course Topic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Applied in Project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2D &amp; 3D Transformations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Rotation, translation, scaling of planets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Viewing &amp; Projection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gluPerspective()</a:t>
                      </a:r>
                      <a:r>
                        <a:rPr lang="en" sz="1100"/>
                        <a:t> and </a:t>
                      </a: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glOrtho()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Illumination Models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Ambient, Diffuse, Specular lighting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Modeling &amp; Shading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Sphere, Torus modeling, realistic materials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Animation &amp; Interaction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Timer-driven motion, keyboard &amp; mouse controls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Color Theory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RGB color customization per planet &amp; asteroid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"/>
          <p:cNvSpPr txBox="1"/>
          <p:nvPr/>
        </p:nvSpPr>
        <p:spPr>
          <a:xfrm>
            <a:off x="56700" y="0"/>
            <a:ext cx="9030600" cy="5143500"/>
          </a:xfrm>
          <a:prstGeom prst="rect">
            <a:avLst/>
          </a:prstGeom>
          <a:solidFill>
            <a:srgbClr val="FCE5CD"/>
          </a:solidFill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" sz="1100"/>
              <a:t>			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🛰️  Working Principle</a:t>
            </a:r>
            <a:endParaRPr b="1" sz="17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AutoNum type="arabicPeriod"/>
            </a:pPr>
            <a:r>
              <a:rPr b="1" lang="en" sz="1100"/>
              <a:t>Initialization:</a:t>
            </a:r>
            <a:br>
              <a:rPr b="1" lang="en" sz="1100"/>
            </a:b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OpenGL lighting, color, and projection setup.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" sz="1100"/>
              <a:t>Rendering Loop:</a:t>
            </a:r>
            <a:br>
              <a:rPr b="1" lang="en" sz="1100"/>
            </a:b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Each frame: draw sun → asteroid belt → planets + moons.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" sz="1100"/>
              <a:t>Transformation:</a:t>
            </a:r>
            <a:br>
              <a:rPr b="1" lang="en" sz="1100"/>
            </a:b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Each planet’s position =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distance * cos(angle)</a:t>
            </a:r>
            <a:r>
              <a:rPr lang="en" sz="1100"/>
              <a:t> &amp;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distance * sin(angle)</a:t>
            </a:r>
            <a:r>
              <a:rPr lang="en" sz="1100"/>
              <a:t>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" sz="1100"/>
              <a:t>Lighting:</a:t>
            </a:r>
            <a:br>
              <a:rPr b="1" lang="en" sz="1100"/>
            </a:b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Single light source at sun’s position.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" sz="1100"/>
              <a:t>User Interaction:</a:t>
            </a:r>
            <a:br>
              <a:rPr b="1" lang="en" sz="1100"/>
            </a:b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Real-time camera rotation &amp; zoom with mouse.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sz="1100"/>
          </a:p>
        </p:txBody>
      </p:sp>
      <p:sp>
        <p:nvSpPr>
          <p:cNvPr id="193" name="Google Shape;193;p7"/>
          <p:cNvSpPr/>
          <p:nvPr/>
        </p:nvSpPr>
        <p:spPr>
          <a:xfrm>
            <a:off x="2481425" y="510400"/>
            <a:ext cx="377100" cy="251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"/>
          <p:cNvSpPr txBox="1"/>
          <p:nvPr/>
        </p:nvSpPr>
        <p:spPr>
          <a:xfrm>
            <a:off x="86375" y="78525"/>
            <a:ext cx="8944200" cy="47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 txBox="1"/>
          <p:nvPr/>
        </p:nvSpPr>
        <p:spPr>
          <a:xfrm>
            <a:off x="56700" y="0"/>
            <a:ext cx="9030600" cy="5143500"/>
          </a:xfrm>
          <a:prstGeom prst="rect">
            <a:avLst/>
          </a:prstGeom>
          <a:solidFill>
            <a:srgbClr val="F9CB9C"/>
          </a:solidFill>
          <a:ln cap="flat" cmpd="sng" w="114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🌟  Future Scope</a:t>
            </a:r>
            <a:endParaRPr b="1" sz="17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Add </a:t>
            </a:r>
            <a:r>
              <a:rPr b="1" lang="en" sz="1100"/>
              <a:t>textured planets</a:t>
            </a:r>
            <a:r>
              <a:rPr lang="en" sz="1100"/>
              <a:t> using image mapping.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Add </a:t>
            </a:r>
            <a:r>
              <a:rPr b="1" lang="en" sz="1100"/>
              <a:t>comets, stars, and spacecrafts</a:t>
            </a:r>
            <a:r>
              <a:rPr lang="en" sz="1100"/>
              <a:t> for realism.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Implement </a:t>
            </a:r>
            <a:r>
              <a:rPr b="1" lang="en" sz="1100"/>
              <a:t>sound effects</a:t>
            </a:r>
            <a:r>
              <a:rPr lang="en" sz="1100"/>
              <a:t> and </a:t>
            </a:r>
            <a:r>
              <a:rPr b="1" lang="en" sz="1100"/>
              <a:t>planet info popups</a:t>
            </a:r>
            <a:r>
              <a:rPr lang="en" sz="1100"/>
              <a:t>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Upgrade to </a:t>
            </a:r>
            <a:r>
              <a:rPr b="1" lang="en" sz="1100"/>
              <a:t>modern OpenGL (shaders)</a:t>
            </a:r>
            <a:r>
              <a:rPr lang="en" sz="1100"/>
              <a:t> for better visuals.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Convert to </a:t>
            </a:r>
            <a:r>
              <a:rPr b="1" lang="en" sz="1100"/>
              <a:t>VR or AR</a:t>
            </a:r>
            <a:r>
              <a:rPr lang="en" sz="1100"/>
              <a:t> simulation for immersive experience.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🧑‍💻  Conclusion</a:t>
            </a:r>
            <a:endParaRPr b="1" sz="17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This project demonstrates core </a:t>
            </a:r>
            <a:r>
              <a:rPr b="1" lang="en" sz="1100"/>
              <a:t>graphics programming skills</a:t>
            </a:r>
            <a:r>
              <a:rPr lang="en" sz="1100"/>
              <a:t>:</a:t>
            </a:r>
            <a:br>
              <a:rPr lang="en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3D modeling</a:t>
            </a:r>
            <a:br>
              <a:rPr lang="en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Animation</a:t>
            </a:r>
            <a:br>
              <a:rPr lang="en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Lighting &amp; camera control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Enhances understanding of </a:t>
            </a:r>
            <a:r>
              <a:rPr b="1" lang="en" sz="1100"/>
              <a:t>OpenGL pipeline &amp; transformation matrices</a:t>
            </a:r>
            <a:r>
              <a:rPr lang="en" sz="1100"/>
              <a:t>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 perfect blend of </a:t>
            </a:r>
            <a:r>
              <a:rPr b="1" lang="en" sz="1100"/>
              <a:t>creativity + technical graphics</a:t>
            </a:r>
            <a:r>
              <a:rPr lang="en" sz="1100"/>
              <a:t>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"/>
          <p:cNvSpPr txBox="1"/>
          <p:nvPr/>
        </p:nvSpPr>
        <p:spPr>
          <a:xfrm>
            <a:off x="47125" y="0"/>
            <a:ext cx="9096900" cy="5088600"/>
          </a:xfrm>
          <a:prstGeom prst="rect">
            <a:avLst/>
          </a:prstGeom>
          <a:solidFill>
            <a:srgbClr val="F9CB9C"/>
          </a:solidFill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Successfully simulated </a:t>
            </a: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realistic solar system</a:t>
            </a:r>
            <a:b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Dynamic </a:t>
            </a: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asteroid belt &amp; rings</a:t>
            </a:r>
            <a:b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can </a:t>
            </a: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interact with simulation</a:t>
            </a:r>
            <a:b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be extended to:</a:t>
            </a:r>
            <a:b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Include more moons</a:t>
            </a:r>
            <a:b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comet trails</a:t>
            </a:r>
            <a:b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textures to planets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10" title="images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